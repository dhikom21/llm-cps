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5" r:id="rId9"/>
    <p:sldId id="266" r:id="rId10"/>
    <p:sldId id="267" r:id="rId11"/>
    <p:sldId id="268" r:id="rId12"/>
    <p:sldId id="269" r:id="rId13"/>
    <p:sldId id="263" r:id="rId14"/>
    <p:sldId id="270" r:id="rId15"/>
    <p:sldId id="271" r:id="rId16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55874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9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914400"/>
            <a:ext cx="4937760" cy="4937760"/>
          </a:xfrm>
          <a:prstGeom prst="ellipse">
            <a:avLst/>
          </a:prstGeom>
          <a:solidFill>
            <a:srgbClr val="12294A"/>
          </a:solidFill>
          <a:ln w="15875">
            <a:solidFill>
              <a:srgbClr val="128AA6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3" name="Shape 1"/>
          <p:cNvSpPr/>
          <p:nvPr/>
        </p:nvSpPr>
        <p:spPr>
          <a:xfrm>
            <a:off x="9418320" y="1737360"/>
            <a:ext cx="3291840" cy="3291840"/>
          </a:xfrm>
          <a:prstGeom prst="ellipse">
            <a:avLst/>
          </a:prstGeom>
          <a:solidFill>
            <a:srgbClr val="12294A"/>
          </a:solidFill>
          <a:ln w="12700">
            <a:solidFill>
              <a:srgbClr val="27507A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4" name="Shape 2"/>
          <p:cNvSpPr/>
          <p:nvPr/>
        </p:nvSpPr>
        <p:spPr>
          <a:xfrm>
            <a:off x="10561320" y="2880360"/>
            <a:ext cx="1005840" cy="100584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5" name="Shape 3"/>
          <p:cNvSpPr/>
          <p:nvPr/>
        </p:nvSpPr>
        <p:spPr>
          <a:xfrm>
            <a:off x="8869680" y="2011680"/>
            <a:ext cx="457200" cy="457200"/>
          </a:xfrm>
          <a:prstGeom prst="ellipse">
            <a:avLst/>
          </a:prstGeom>
          <a:solidFill>
            <a:srgbClr val="8FD6DE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6" name="Shape 4"/>
          <p:cNvSpPr/>
          <p:nvPr/>
        </p:nvSpPr>
        <p:spPr>
          <a:xfrm>
            <a:off x="9235440" y="4846320"/>
            <a:ext cx="365760" cy="365760"/>
          </a:xfrm>
          <a:prstGeom prst="ellipse">
            <a:avLst/>
          </a:prstGeom>
          <a:solidFill>
            <a:srgbClr val="128AA6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7" name="Text 5"/>
          <p:cNvSpPr txBox="1"/>
          <p:nvPr/>
        </p:nvSpPr>
        <p:spPr>
          <a:xfrm>
            <a:off x="64008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kern="0" spc="200" dirty="0">
                <a:solidFill>
                  <a:srgbClr val="8F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D7065E · Cyber-Physical Systems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1828800"/>
            <a:ext cx="7680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Putting AI in the Loop</a:t>
            </a:r>
            <a:endParaRPr lang="en-US" sz="50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15468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8F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an LLM controls BuildSim, using LangChain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88620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F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step, from one message to a closed control loop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852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4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Dhivya Priya Komathivanan · Luleå University of Technology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28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IDEA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21792" y="676656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22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AI is a brain in a jar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017520" cy="1280160"/>
          </a:xfrm>
          <a:prstGeom prst="roundRect">
            <a:avLst>
              <a:gd name="adj" fmla="val 5714"/>
            </a:avLst>
          </a:prstGeom>
          <a:solidFill>
            <a:srgbClr val="F1F6F9"/>
          </a:solidFill>
          <a:ln w="12700">
            <a:solidFill>
              <a:srgbClr val="D6E1E9"/>
            </a:solidFill>
            <a:prstDash val="solid"/>
          </a:ln>
          <a:effectLst>
            <a:outerShdw blurRad="76200" dist="25400" dir="5400000" algn="bl" rotWithShape="0">
              <a:srgbClr val="9AAAB8">
                <a:alpha val="30000"/>
              </a:srgbClr>
            </a:outerShdw>
          </a:effectLst>
        </p:spPr>
        <p:txBody>
          <a:bodyPr/>
          <a:lstStyle/>
          <a:p>
            <a:endParaRPr lang="sv-SE"/>
          </a:p>
        </p:txBody>
      </p:sp>
      <p:sp>
        <p:nvSpPr>
          <p:cNvPr id="5" name="Text 3"/>
          <p:cNvSpPr txBox="1"/>
          <p:nvPr/>
        </p:nvSpPr>
        <p:spPr>
          <a:xfrm>
            <a:off x="822960" y="192024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program
</a:t>
            </a: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(the agent)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397764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A623"/>
                </a:solidFill>
              </a:rPr>
              <a:t>→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617720" y="1920240"/>
            <a:ext cx="2926080" cy="1280160"/>
          </a:xfrm>
          <a:prstGeom prst="roundRect">
            <a:avLst>
              <a:gd name="adj" fmla="val 5714"/>
            </a:avLst>
          </a:prstGeom>
          <a:solidFill>
            <a:srgbClr val="12294A"/>
          </a:solidFill>
          <a:ln/>
          <a:effectLst>
            <a:outerShdw blurRad="76200" dist="25400" dir="5400000" algn="bl" rotWithShape="0">
              <a:srgbClr val="9AAAB8">
                <a:alpha val="30000"/>
              </a:srgbClr>
            </a:outerShdw>
          </a:effectLst>
        </p:spPr>
        <p:txBody>
          <a:bodyPr/>
          <a:lstStyle/>
          <a:p>
            <a:endParaRPr lang="sv-SE"/>
          </a:p>
        </p:txBody>
      </p:sp>
      <p:sp>
        <p:nvSpPr>
          <p:cNvPr id="8" name="Text 6"/>
          <p:cNvSpPr txBox="1"/>
          <p:nvPr/>
        </p:nvSpPr>
        <p:spPr>
          <a:xfrm>
            <a:off x="4617720" y="192024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door
</a:t>
            </a:r>
            <a:r>
              <a:rPr lang="en-US" sz="1200" dirty="0">
                <a:solidFill>
                  <a:srgbClr val="8F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+ port
</a:t>
            </a:r>
            <a:r>
              <a:rPr lang="en-US" sz="120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:8000/v1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68096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A623"/>
                </a:solidFill>
              </a:rPr>
              <a:t>→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8321040" y="1920240"/>
            <a:ext cx="3017520" cy="1280160"/>
          </a:xfrm>
          <a:prstGeom prst="roundRect">
            <a:avLst>
              <a:gd name="adj" fmla="val 5714"/>
            </a:avLst>
          </a:prstGeom>
          <a:solidFill>
            <a:srgbClr val="F1F6F9"/>
          </a:solidFill>
          <a:ln w="12700">
            <a:solidFill>
              <a:srgbClr val="D6E1E9"/>
            </a:solidFill>
            <a:prstDash val="solid"/>
          </a:ln>
          <a:effectLst>
            <a:outerShdw blurRad="76200" dist="25400" dir="5400000" algn="bl" rotWithShape="0">
              <a:srgbClr val="9AAAB8">
                <a:alpha val="30000"/>
              </a:srgbClr>
            </a:outerShdw>
          </a:effectLst>
        </p:spPr>
        <p:txBody>
          <a:bodyPr/>
          <a:lstStyle/>
          <a:p>
            <a:endParaRPr lang="sv-SE"/>
          </a:p>
        </p:txBody>
      </p:sp>
      <p:sp>
        <p:nvSpPr>
          <p:cNvPr id="11" name="Text 9"/>
          <p:cNvSpPr txBox="1"/>
          <p:nvPr/>
        </p:nvSpPr>
        <p:spPr>
          <a:xfrm>
            <a:off x="8321040" y="192024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
</a:t>
            </a: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in → text out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3749040"/>
            <a:ext cx="10424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 do exactly one thing: you give it text, it gives text back.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cannot see the building, read a sensor, or flip a switch.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we describe the situation in words — and give it a menu of buttons to ask for.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544068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28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brilliant consultant locked in a windowless room. You pass letters under the door.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1612880" y="63550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28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CAST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21792" y="676656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22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players — get these straight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21792" y="1965960"/>
            <a:ext cx="2148840" cy="2286000"/>
          </a:xfrm>
          <a:prstGeom prst="roundRect">
            <a:avLst>
              <a:gd name="adj" fmla="val 3404"/>
            </a:avLst>
          </a:prstGeom>
          <a:solidFill>
            <a:srgbClr val="F1F6F9"/>
          </a:solidFill>
          <a:ln w="12700">
            <a:solidFill>
              <a:srgbClr val="D6E1E9"/>
            </a:solidFill>
            <a:prstDash val="solid"/>
          </a:ln>
          <a:effectLst>
            <a:outerShdw blurRad="76200" dist="25400" dir="5400000" algn="bl" rotWithShape="0">
              <a:srgbClr val="9AAAB8">
                <a:alpha val="30000"/>
              </a:srgbClr>
            </a:outerShdw>
          </a:effectLst>
        </p:spPr>
        <p:txBody>
          <a:bodyPr/>
          <a:lstStyle/>
          <a:p>
            <a:endParaRPr lang="sv-SE"/>
          </a:p>
        </p:txBody>
      </p:sp>
      <p:sp>
        <p:nvSpPr>
          <p:cNvPr id="5" name="Shape 3"/>
          <p:cNvSpPr/>
          <p:nvPr/>
        </p:nvSpPr>
        <p:spPr>
          <a:xfrm>
            <a:off x="1444752" y="2148840"/>
            <a:ext cx="457200" cy="457200"/>
          </a:xfrm>
          <a:prstGeom prst="ellipse">
            <a:avLst/>
          </a:prstGeom>
          <a:solidFill>
            <a:srgbClr val="128AA6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6" name="Text 4"/>
          <p:cNvSpPr txBox="1"/>
          <p:nvPr/>
        </p:nvSpPr>
        <p:spPr>
          <a:xfrm>
            <a:off x="1444752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6974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BuildSim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68096" y="3108960"/>
            <a:ext cx="18562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the building's state. Speaks HTTP (REST). Stores — does not think.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926080" y="1965960"/>
            <a:ext cx="2148840" cy="2286000"/>
          </a:xfrm>
          <a:prstGeom prst="roundRect">
            <a:avLst>
              <a:gd name="adj" fmla="val 3404"/>
            </a:avLst>
          </a:prstGeom>
          <a:solidFill>
            <a:srgbClr val="F1F6F9"/>
          </a:solidFill>
          <a:ln w="12700">
            <a:solidFill>
              <a:srgbClr val="D6E1E9"/>
            </a:solidFill>
            <a:prstDash val="solid"/>
          </a:ln>
          <a:effectLst>
            <a:outerShdw blurRad="76200" dist="25400" dir="5400000" algn="bl" rotWithShape="0">
              <a:srgbClr val="9AAAB8">
                <a:alpha val="30000"/>
              </a:srgbClr>
            </a:outerShdw>
          </a:effectLst>
        </p:spPr>
        <p:txBody>
          <a:bodyPr/>
          <a:lstStyle/>
          <a:p>
            <a:endParaRPr lang="sv-SE"/>
          </a:p>
        </p:txBody>
      </p:sp>
      <p:sp>
        <p:nvSpPr>
          <p:cNvPr id="10" name="Shape 8"/>
          <p:cNvSpPr/>
          <p:nvPr/>
        </p:nvSpPr>
        <p:spPr>
          <a:xfrm>
            <a:off x="3749040" y="2148840"/>
            <a:ext cx="457200" cy="457200"/>
          </a:xfrm>
          <a:prstGeom prst="ellipse">
            <a:avLst/>
          </a:prstGeom>
          <a:solidFill>
            <a:srgbClr val="128AA6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1" name="Text 9"/>
          <p:cNvSpPr txBox="1"/>
          <p:nvPr/>
        </p:nvSpPr>
        <p:spPr>
          <a:xfrm>
            <a:off x="374904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017520" y="26974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072384" y="3108960"/>
            <a:ext cx="18562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in, text out. Sees nothing, touches nothing.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230368" y="1965960"/>
            <a:ext cx="2148840" cy="2286000"/>
          </a:xfrm>
          <a:prstGeom prst="roundRect">
            <a:avLst>
              <a:gd name="adj" fmla="val 3404"/>
            </a:avLst>
          </a:prstGeom>
          <a:solidFill>
            <a:srgbClr val="F1F6F9"/>
          </a:solidFill>
          <a:ln w="12700">
            <a:solidFill>
              <a:srgbClr val="D6E1E9"/>
            </a:solidFill>
            <a:prstDash val="solid"/>
          </a:ln>
          <a:effectLst>
            <a:outerShdw blurRad="76200" dist="25400" dir="5400000" algn="bl" rotWithShape="0">
              <a:srgbClr val="9AAAB8">
                <a:alpha val="30000"/>
              </a:srgbClr>
            </a:outerShdw>
          </a:effectLst>
        </p:spPr>
        <p:txBody>
          <a:bodyPr/>
          <a:lstStyle/>
          <a:p>
            <a:endParaRPr lang="sv-SE"/>
          </a:p>
        </p:txBody>
      </p:sp>
      <p:sp>
        <p:nvSpPr>
          <p:cNvPr id="15" name="Shape 13"/>
          <p:cNvSpPr/>
          <p:nvPr/>
        </p:nvSpPr>
        <p:spPr>
          <a:xfrm>
            <a:off x="6053328" y="2148840"/>
            <a:ext cx="457200" cy="457200"/>
          </a:xfrm>
          <a:prstGeom prst="ellipse">
            <a:avLst/>
          </a:prstGeom>
          <a:solidFill>
            <a:srgbClr val="128AA6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6" name="Text 14"/>
          <p:cNvSpPr txBox="1"/>
          <p:nvPr/>
        </p:nvSpPr>
        <p:spPr>
          <a:xfrm>
            <a:off x="6053328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321808" y="26974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376672" y="3108960"/>
            <a:ext cx="18562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Python functions that DO call BuildSim.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534656" y="1965960"/>
            <a:ext cx="2148840" cy="2286000"/>
          </a:xfrm>
          <a:prstGeom prst="roundRect">
            <a:avLst>
              <a:gd name="adj" fmla="val 3404"/>
            </a:avLst>
          </a:prstGeom>
          <a:solidFill>
            <a:srgbClr val="12294A"/>
          </a:solidFill>
          <a:ln/>
          <a:effectLst>
            <a:outerShdw blurRad="76200" dist="25400" dir="5400000" algn="bl" rotWithShape="0">
              <a:srgbClr val="9AAAB8">
                <a:alpha val="30000"/>
              </a:srgbClr>
            </a:outerShdw>
          </a:effectLst>
        </p:spPr>
        <p:txBody>
          <a:bodyPr/>
          <a:lstStyle/>
          <a:p>
            <a:endParaRPr lang="sv-SE"/>
          </a:p>
        </p:txBody>
      </p:sp>
      <p:sp>
        <p:nvSpPr>
          <p:cNvPr id="20" name="Shape 18"/>
          <p:cNvSpPr/>
          <p:nvPr/>
        </p:nvSpPr>
        <p:spPr>
          <a:xfrm>
            <a:off x="8357616" y="2148840"/>
            <a:ext cx="457200" cy="45720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1" name="Text 19"/>
          <p:cNvSpPr txBox="1"/>
          <p:nvPr/>
        </p:nvSpPr>
        <p:spPr>
          <a:xfrm>
            <a:off x="8357616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626096" y="26974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680960" y="3108960"/>
            <a:ext cx="18562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F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translator: dials the model, formats, runs the loop.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838944" y="1965960"/>
            <a:ext cx="2148840" cy="2286000"/>
          </a:xfrm>
          <a:prstGeom prst="roundRect">
            <a:avLst>
              <a:gd name="adj" fmla="val 3404"/>
            </a:avLst>
          </a:prstGeom>
          <a:solidFill>
            <a:srgbClr val="F1F6F9"/>
          </a:solidFill>
          <a:ln w="12700">
            <a:solidFill>
              <a:srgbClr val="D6E1E9"/>
            </a:solidFill>
            <a:prstDash val="solid"/>
          </a:ln>
          <a:effectLst>
            <a:outerShdw blurRad="76200" dist="25400" dir="5400000" algn="bl" rotWithShape="0">
              <a:srgbClr val="9AAAB8">
                <a:alpha val="30000"/>
              </a:srgbClr>
            </a:outerShdw>
          </a:effectLst>
        </p:spPr>
        <p:txBody>
          <a:bodyPr/>
          <a:lstStyle/>
          <a:p>
            <a:endParaRPr lang="sv-SE"/>
          </a:p>
        </p:txBody>
      </p:sp>
      <p:sp>
        <p:nvSpPr>
          <p:cNvPr id="25" name="Shape 23"/>
          <p:cNvSpPr/>
          <p:nvPr/>
        </p:nvSpPr>
        <p:spPr>
          <a:xfrm>
            <a:off x="10661904" y="2148840"/>
            <a:ext cx="457200" cy="457200"/>
          </a:xfrm>
          <a:prstGeom prst="ellipse">
            <a:avLst/>
          </a:prstGeom>
          <a:solidFill>
            <a:srgbClr val="128AA6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6" name="Text 24"/>
          <p:cNvSpPr txBox="1"/>
          <p:nvPr/>
        </p:nvSpPr>
        <p:spPr>
          <a:xfrm>
            <a:off x="10661904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9930384" y="26974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9985248" y="3108960"/>
            <a:ext cx="18562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of it, running in a cycle.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21792" y="4617720"/>
            <a:ext cx="11365992" cy="1051560"/>
          </a:xfrm>
          <a:prstGeom prst="roundRect">
            <a:avLst>
              <a:gd name="adj" fmla="val 6957"/>
            </a:avLst>
          </a:prstGeom>
          <a:solidFill>
            <a:srgbClr val="F1F6F9"/>
          </a:solidFill>
          <a:ln w="12700">
            <a:solidFill>
              <a:srgbClr val="D6E1E9"/>
            </a:solidFill>
            <a:prstDash val="solid"/>
          </a:ln>
          <a:effectLst>
            <a:outerShdw blurRad="76200" dist="25400" dir="5400000" algn="bl" rotWithShape="0">
              <a:srgbClr val="9AAAB8">
                <a:alpha val="30000"/>
              </a:srgbClr>
            </a:outerShdw>
          </a:effectLst>
        </p:spPr>
        <p:txBody>
          <a:bodyPr/>
          <a:lstStyle/>
          <a:p>
            <a:endParaRPr lang="sv-SE"/>
          </a:p>
        </p:txBody>
      </p:sp>
      <p:sp>
        <p:nvSpPr>
          <p:cNvPr id="30" name="Text 28"/>
          <p:cNvSpPr txBox="1"/>
          <p:nvPr/>
        </p:nvSpPr>
        <p:spPr>
          <a:xfrm>
            <a:off x="868680" y="4617720"/>
            <a:ext cx="10881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trick:  </a:t>
            </a:r>
            <a:r>
              <a:rPr lang="en-US" sz="15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only </a:t>
            </a:r>
            <a:r>
              <a:rPr lang="en-US" sz="15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</a:t>
            </a:r>
            <a:r>
              <a:rPr lang="en-US" sz="15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a button to be pressed. Your code reads the request and presses it. The AI never touches the building.</a:t>
            </a:r>
            <a:endParaRPr lang="en-US" sz="1550" dirty="0"/>
          </a:p>
        </p:txBody>
      </p:sp>
      <p:sp>
        <p:nvSpPr>
          <p:cNvPr id="31" name="Text 29"/>
          <p:cNvSpPr txBox="1"/>
          <p:nvPr/>
        </p:nvSpPr>
        <p:spPr>
          <a:xfrm>
            <a:off x="11612880" y="63550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28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21792" y="676656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22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Connecting to the brain — 3 steps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" cy="512064"/>
          </a:xfrm>
          <a:prstGeom prst="ellipse">
            <a:avLst/>
          </a:prstGeom>
          <a:solidFill>
            <a:srgbClr val="128AA6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5" name="Text 3"/>
          <p:cNvSpPr txBox="1"/>
          <p:nvPr/>
        </p:nvSpPr>
        <p:spPr>
          <a:xfrm>
            <a:off x="822960" y="18288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79222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the client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139696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at the model's door. Once, at startup.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22960" y="3108960"/>
            <a:ext cx="512064" cy="512064"/>
          </a:xfrm>
          <a:prstGeom prst="ellipse">
            <a:avLst/>
          </a:prstGeom>
          <a:solidFill>
            <a:srgbClr val="128AA6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9" name="Text 7"/>
          <p:cNvSpPr txBox="1"/>
          <p:nvPr/>
        </p:nvSpPr>
        <p:spPr>
          <a:xfrm>
            <a:off x="822960" y="31089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307238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messages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508760" y="3419856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SystemMessage = its job · HumanMessage = the situation.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22960" y="4389120"/>
            <a:ext cx="512064" cy="512064"/>
          </a:xfrm>
          <a:prstGeom prst="ellipse">
            <a:avLst/>
          </a:prstGeom>
          <a:solidFill>
            <a:srgbClr val="128AA6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3" name="Text 11"/>
          <p:cNvSpPr txBox="1"/>
          <p:nvPr/>
        </p:nvSpPr>
        <p:spPr>
          <a:xfrm>
            <a:off x="822960" y="43891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435254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reply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508760" y="4700016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invoke(...) → .content, the model's answer.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858000" y="1828800"/>
            <a:ext cx="4572000" cy="3383280"/>
          </a:xfrm>
          <a:prstGeom prst="roundRect">
            <a:avLst>
              <a:gd name="adj" fmla="val 1622"/>
            </a:avLst>
          </a:prstGeom>
          <a:solidFill>
            <a:srgbClr val="0E1F33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7" name="Text 15"/>
          <p:cNvSpPr txBox="1"/>
          <p:nvPr/>
        </p:nvSpPr>
        <p:spPr>
          <a:xfrm>
            <a:off x="7004304" y="1920240"/>
            <a:ext cx="4279392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CF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langchain_openai import ChatOpenAI
</a:t>
            </a:r>
            <a:r>
              <a:rPr lang="en-US" sz="1100" dirty="0">
                <a:solidFill>
                  <a:srgbClr val="8FD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 = ChatOpenAI(
</a:t>
            </a:r>
            <a:r>
              <a:rPr lang="en-US" sz="1100" dirty="0">
                <a:solidFill>
                  <a:srgbClr val="CF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model="llama3.2:3b",
    base_url="http://localhost:11434/v1",
    api_key="ollama",
    temperature=0.1)
</a:t>
            </a:r>
            <a:r>
              <a:rPr lang="en-US" sz="1100" dirty="0">
                <a:solidFill>
                  <a:srgbClr val="8FD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reply = llm.invoke(
</a:t>
            </a:r>
            <a:r>
              <a:rPr lang="en-US" sz="1100" dirty="0">
                <a:solidFill>
                  <a:srgbClr val="CF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"A109 is 19C. Heater ON or OFF?")
</a:t>
            </a:r>
            <a:r>
              <a:rPr lang="en-US" sz="1100" dirty="0">
                <a:solidFill>
                  <a:srgbClr val="8FD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print(reply.content)  </a:t>
            </a:r>
            <a:r>
              <a:rPr lang="en-US" sz="110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-&gt; "ON"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39496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128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base_url decides WHICH brain. Swap it — nothing else changes.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11612880" y="63550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28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21792" y="676656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22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Giving the brain hands — wrapping BuildSim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828800"/>
            <a:ext cx="5120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tool is an ordinary function that talks to BuildSim over REST.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body is plain HTTP — no AI in it at all.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docstring is NOT a comment — it is the instruction manual the AI reads.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 docstring → confused agent. This is the highest-leverage text you write.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309360" y="1783080"/>
            <a:ext cx="5120640" cy="3931920"/>
          </a:xfrm>
          <a:prstGeom prst="roundRect">
            <a:avLst>
              <a:gd name="adj" fmla="val 1395"/>
            </a:avLst>
          </a:prstGeom>
          <a:solidFill>
            <a:srgbClr val="0E1F33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6" name="Text 4"/>
          <p:cNvSpPr txBox="1"/>
          <p:nvPr/>
        </p:nvSpPr>
        <p:spPr>
          <a:xfrm>
            <a:off x="6455664" y="1874520"/>
            <a:ext cx="4828032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@tool
</a:t>
            </a:r>
            <a:r>
              <a:rPr lang="en-US" sz="1050" dirty="0">
                <a:solidFill>
                  <a:srgbClr val="8FD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set_heater(state: str,
               reason: str) -&gt; str:
</a:t>
            </a:r>
            <a:r>
              <a:rPr lang="en-US" sz="1050" dirty="0">
                <a:solidFill>
                  <a:srgbClr val="CF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"""Turn the A109 heater on or off.
       state is 'on' or 'off';
       reason explains why."""
</a:t>
            </a:r>
            <a:r>
              <a:rPr lang="en-US" sz="1050" dirty="0">
                <a:solidFill>
                  <a:srgbClr val="8FD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requests.put(
</a:t>
            </a:r>
            <a:r>
              <a:rPr lang="en-US" sz="1050" dirty="0">
                <a:solidFill>
                  <a:srgbClr val="CF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f"{BUILDSIM}/api/actuators/"
      f"level4-heater-A109-state/state",
      json={"state": state})
    return f"heater set to {state}"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57200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128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turns the name + docstring + type hints into the "menu" it sends the model.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11612880" y="63550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28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21792" y="676656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22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vs Human — the two things it reads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5394960" cy="1463040"/>
          </a:xfrm>
          <a:prstGeom prst="roundRect">
            <a:avLst>
              <a:gd name="adj" fmla="val 5000"/>
            </a:avLst>
          </a:prstGeom>
          <a:solidFill>
            <a:srgbClr val="12294A"/>
          </a:solidFill>
          <a:ln/>
          <a:effectLst>
            <a:outerShdw blurRad="76200" dist="25400" dir="5400000" algn="bl" rotWithShape="0">
              <a:srgbClr val="9AAAB8">
                <a:alpha val="30000"/>
              </a:srgbClr>
            </a:outerShdw>
          </a:effectLst>
        </p:spPr>
        <p:txBody>
          <a:bodyPr/>
          <a:lstStyle/>
          <a:p>
            <a:endParaRPr lang="sv-SE"/>
          </a:p>
        </p:txBody>
      </p:sp>
      <p:sp>
        <p:nvSpPr>
          <p:cNvPr id="5" name="Text 3"/>
          <p:cNvSpPr txBox="1"/>
          <p:nvPr/>
        </p:nvSpPr>
        <p:spPr>
          <a:xfrm>
            <a:off x="914400" y="173736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SystemMessage
</a:t>
            </a:r>
            <a:endParaRPr lang="en-US" sz="1700" dirty="0"/>
          </a:p>
          <a:p>
            <a:pPr marL="0" indent="0">
              <a:buNone/>
            </a:pPr>
            <a:r>
              <a:rPr lang="en-US" sz="1300" dirty="0">
                <a:solidFill>
                  <a:srgbClr val="8F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standing job description: who it is,</a:t>
            </a:r>
            <a:endParaRPr lang="en-US" sz="1700" dirty="0"/>
          </a:p>
          <a:p>
            <a:pPr marL="0" indent="0">
              <a:buNone/>
            </a:pPr>
            <a:r>
              <a:rPr lang="en-US" sz="1300" dirty="0">
                <a:solidFill>
                  <a:srgbClr val="8F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rules and limits. Written once —</a:t>
            </a:r>
            <a:endParaRPr lang="en-US" sz="1700" dirty="0"/>
          </a:p>
          <a:p>
            <a:pPr marL="0" indent="0">
              <a:buNone/>
            </a:pPr>
            <a:r>
              <a:rPr lang="en-US" sz="1300" dirty="0">
                <a:solidFill>
                  <a:srgbClr val="8F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every cycle.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263640" y="1737360"/>
            <a:ext cx="5394960" cy="1463040"/>
          </a:xfrm>
          <a:prstGeom prst="roundRect">
            <a:avLst>
              <a:gd name="adj" fmla="val 5000"/>
            </a:avLst>
          </a:prstGeom>
          <a:solidFill>
            <a:srgbClr val="F1F6F9"/>
          </a:solidFill>
          <a:ln w="12700">
            <a:solidFill>
              <a:srgbClr val="D6E1E9"/>
            </a:solidFill>
            <a:prstDash val="solid"/>
          </a:ln>
          <a:effectLst>
            <a:outerShdw blurRad="76200" dist="25400" dir="5400000" algn="bl" rotWithShape="0">
              <a:srgbClr val="9AAAB8">
                <a:alpha val="30000"/>
              </a:srgbClr>
            </a:outerShdw>
          </a:effectLst>
        </p:spPr>
        <p:txBody>
          <a:bodyPr/>
          <a:lstStyle/>
          <a:p>
            <a:endParaRPr lang="sv-SE"/>
          </a:p>
        </p:txBody>
      </p:sp>
      <p:sp>
        <p:nvSpPr>
          <p:cNvPr id="7" name="Text 5"/>
          <p:cNvSpPr txBox="1"/>
          <p:nvPr/>
        </p:nvSpPr>
        <p:spPr>
          <a:xfrm>
            <a:off x="6492240" y="173736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HumanMessage
</a:t>
            </a:r>
            <a:endParaRPr lang="en-US" sz="1700" dirty="0"/>
          </a:p>
          <a:p>
            <a:pPr marL="0" indent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turn's situation: the sensor reading,</a:t>
            </a:r>
            <a:endParaRPr lang="en-US" sz="1700" dirty="0"/>
          </a:p>
          <a:p>
            <a:pPr marL="0" indent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question. Changes every cycle.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33101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8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call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85800" y="3611880"/>
            <a:ext cx="5394960" cy="2103120"/>
          </a:xfrm>
          <a:prstGeom prst="roundRect">
            <a:avLst>
              <a:gd name="adj" fmla="val 2609"/>
            </a:avLst>
          </a:prstGeom>
          <a:solidFill>
            <a:srgbClr val="0E1F33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0" name="Text 8"/>
          <p:cNvSpPr txBox="1"/>
          <p:nvPr/>
        </p:nvSpPr>
        <p:spPr>
          <a:xfrm>
            <a:off x="832104" y="3703320"/>
            <a:ext cx="510235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8FD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llm.invoke([
</a:t>
            </a:r>
            <a:r>
              <a:rPr lang="en-US" sz="100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SystemMessage(
</a:t>
            </a:r>
            <a:r>
              <a:rPr lang="en-US" sz="1000" dirty="0">
                <a:solidFill>
                  <a:srgbClr val="CF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"You are the HVAC agent for A109.
     Keep 20-23 C. Always give a reason."),
</a:t>
            </a:r>
            <a:r>
              <a:rPr lang="en-US" sz="100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HumanMessage(
</a:t>
            </a:r>
            <a:r>
              <a:rPr lang="en-US" sz="1000" dirty="0">
                <a:solidFill>
                  <a:srgbClr val="CF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"A109 is 19.2 C. What should I do?"),
])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291072" y="33101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8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an agent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63640" y="3611880"/>
            <a:ext cx="5394960" cy="2103120"/>
          </a:xfrm>
          <a:prstGeom prst="roundRect">
            <a:avLst>
              <a:gd name="adj" fmla="val 2609"/>
            </a:avLst>
          </a:prstGeom>
          <a:solidFill>
            <a:srgbClr val="0E1F33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3" name="Text 11"/>
          <p:cNvSpPr txBox="1"/>
          <p:nvPr/>
        </p:nvSpPr>
        <p:spPr>
          <a:xfrm>
            <a:off x="6409944" y="3703320"/>
            <a:ext cx="510235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8FD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= create_react_agent(
</a:t>
            </a:r>
            <a:r>
              <a:rPr lang="en-US" sz="1000" dirty="0">
                <a:solidFill>
                  <a:srgbClr val="CF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llm, tools,
</a:t>
            </a:r>
            <a:r>
              <a:rPr lang="en-US" sz="100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prompt=SYSTEM)   </a:t>
            </a:r>
            <a:r>
              <a:rPr lang="en-US" sz="1000" dirty="0">
                <a:solidFill>
                  <a:srgbClr val="7F9A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every cycle
</a:t>
            </a:r>
            <a:r>
              <a:rPr lang="en-US" sz="1000" dirty="0">
                <a:solidFill>
                  <a:srgbClr val="CF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000" dirty="0">
                <a:solidFill>
                  <a:srgbClr val="8FD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agent.invoke({"messages":
</a:t>
            </a:r>
            <a:r>
              <a:rPr lang="en-US" sz="1000" dirty="0">
                <a:solidFill>
                  <a:srgbClr val="CF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[("user", "A109 is 19.2 C")]})  </a:t>
            </a:r>
            <a:r>
              <a:rPr lang="en-US" sz="1000" dirty="0">
                <a:solidFill>
                  <a:srgbClr val="7F9A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just
</a:t>
            </a:r>
            <a:r>
              <a:rPr lang="en-US" sz="1000" dirty="0">
                <a:solidFill>
                  <a:srgbClr val="CF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</a:t>
            </a:r>
            <a:r>
              <a:rPr lang="en-US" sz="1000" dirty="0">
                <a:solidFill>
                  <a:srgbClr val="7F9A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situation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59436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the model knows comes from these two. If it is not written here, the model cannot know it.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1612880" y="63550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28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1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21792" y="676656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22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template — a reusable prompt with blanks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664208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gluing strings together. Write the wording once, fill in the values each cycle.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188720" y="2286000"/>
            <a:ext cx="9784080" cy="3703320"/>
          </a:xfrm>
          <a:prstGeom prst="roundRect">
            <a:avLst>
              <a:gd name="adj" fmla="val 1481"/>
            </a:avLst>
          </a:prstGeom>
          <a:solidFill>
            <a:srgbClr val="0E1F33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6" name="Text 4"/>
          <p:cNvSpPr txBox="1"/>
          <p:nvPr/>
        </p:nvSpPr>
        <p:spPr>
          <a:xfrm>
            <a:off x="1335024" y="2377440"/>
            <a:ext cx="9491472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CF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langchain_core.prompts import ChatPromptTemplate
</a:t>
            </a:r>
            <a:r>
              <a:rPr lang="en-US" sz="1100" dirty="0">
                <a:solidFill>
                  <a:srgbClr val="8FD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 = ChatPromptTemplate.from_messages([
</a:t>
            </a:r>
            <a:r>
              <a:rPr lang="en-US" sz="1100" dirty="0">
                <a:solidFill>
                  <a:srgbClr val="CF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("system", "You are the HVAC agent for {room}."),
    ("human",  "Temp is {temp} C, setpoint {sp} C. ON or OFF?"),
])
</a:t>
            </a:r>
            <a:r>
              <a:rPr lang="en-US" sz="1100" dirty="0">
                <a:solidFill>
                  <a:srgbClr val="8FD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prompt.invoke({"room":"A109","temp":19.2,"sp":21})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1612880" y="63550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28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2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21792" y="676656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22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Chain (LCEL) — pipe the pieces together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664208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| operator wires steps into a production line: fill the blanks → send to the model → clean the answer.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188720" y="2286000"/>
            <a:ext cx="9784080" cy="3703320"/>
          </a:xfrm>
          <a:prstGeom prst="roundRect">
            <a:avLst>
              <a:gd name="adj" fmla="val 1481"/>
            </a:avLst>
          </a:prstGeom>
          <a:solidFill>
            <a:srgbClr val="0E1F33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6" name="Text 4"/>
          <p:cNvSpPr txBox="1"/>
          <p:nvPr/>
        </p:nvSpPr>
        <p:spPr>
          <a:xfrm>
            <a:off x="1335024" y="2377440"/>
            <a:ext cx="9491472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CF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langchain_core.prompts import ChatPromptTemplate
from langchain_core.output_parsers import StrOutputParser
</a:t>
            </a:r>
            <a:r>
              <a:rPr lang="en-US" sz="1100" dirty="0">
                <a:solidFill>
                  <a:srgbClr val="8FD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 = ChatPromptTemplate.from_messages([
</a:t>
            </a:r>
            <a:r>
              <a:rPr lang="en-US" sz="1100" dirty="0">
                <a:solidFill>
                  <a:srgbClr val="CF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("system", "You are a translator. Translate the user’s text to {language}. Output only the translation."),
    ("user", "{text}"),
])
</a:t>
            </a:r>
            <a:r>
              <a:rPr lang="en-US" sz="110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chain = prompt | llm | StrOutputParser()
</a:t>
            </a:r>
            <a:r>
              <a:rPr lang="en-US" sz="1100" dirty="0">
                <a:solidFill>
                  <a:srgbClr val="8FD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chain.invoke({
</a:t>
            </a:r>
            <a:r>
              <a:rPr lang="en-US" sz="1100" dirty="0">
                <a:solidFill>
                  <a:srgbClr val="CF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"language": "French",
    "text": "The weather is beautiful today.",
})
</a:t>
            </a:r>
            <a:r>
              <a:rPr lang="en-US" sz="1100" dirty="0">
                <a:solidFill>
                  <a:srgbClr val="7F9A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-&gt; "Le temps est magnifique aujourd'hui."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1612880" y="63550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28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3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21792" y="676656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22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Structured output — answers you can trust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664208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the reply into fields instead of free text, so your code never has to guess what it meant.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188720" y="2286000"/>
            <a:ext cx="9784080" cy="3703320"/>
          </a:xfrm>
          <a:prstGeom prst="roundRect">
            <a:avLst>
              <a:gd name="adj" fmla="val 1481"/>
            </a:avLst>
          </a:prstGeom>
          <a:solidFill>
            <a:srgbClr val="0E1F33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6" name="Text 4"/>
          <p:cNvSpPr txBox="1"/>
          <p:nvPr/>
        </p:nvSpPr>
        <p:spPr>
          <a:xfrm>
            <a:off x="1335024" y="2377440"/>
            <a:ext cx="9491472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CF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pydantic import BaseModel, Field
</a:t>
            </a:r>
            <a:r>
              <a:rPr lang="en-US" sz="1100" dirty="0">
                <a:solidFill>
                  <a:srgbClr val="8FD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Decision(BaseModel):
</a:t>
            </a:r>
            <a:r>
              <a:rPr lang="en-US" sz="1100" dirty="0">
                <a:solidFill>
                  <a:srgbClr val="CF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heater: str = Field(description="'on' or 'off'")
    reason: str
</a:t>
            </a:r>
            <a:r>
              <a:rPr lang="en-US" sz="110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chain = prompt | llm.with_structured_output(Decision)
</a:t>
            </a:r>
            <a:r>
              <a:rPr lang="en-US" sz="1100" dirty="0">
                <a:solidFill>
                  <a:srgbClr val="CF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= chain.invoke({...})
</a:t>
            </a:r>
            <a:r>
              <a:rPr lang="en-US" sz="1100" dirty="0">
                <a:solidFill>
                  <a:srgbClr val="8FD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d.heater    </a:t>
            </a:r>
            <a:r>
              <a:rPr lang="en-US" sz="1100" dirty="0">
                <a:solidFill>
                  <a:srgbClr val="7F9A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-&gt; "on"   a typed field, not a sentence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1612880" y="63550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28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4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21792" y="676656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22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 — remembering the last few cycles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664208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is stateless. If you want it to recall what it just did, you resend that history yourself.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188720" y="2286000"/>
            <a:ext cx="9784080" cy="3703320"/>
          </a:xfrm>
          <a:prstGeom prst="roundRect">
            <a:avLst>
              <a:gd name="adj" fmla="val 1481"/>
            </a:avLst>
          </a:prstGeom>
          <a:solidFill>
            <a:srgbClr val="0E1F33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6" name="Text 4"/>
          <p:cNvSpPr txBox="1"/>
          <p:nvPr/>
        </p:nvSpPr>
        <p:spPr>
          <a:xfrm>
            <a:off x="1335024" y="2377440"/>
            <a:ext cx="9491472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8FD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history = []                      </a:t>
            </a:r>
            <a:r>
              <a:rPr lang="en-US" sz="1100" dirty="0">
                <a:solidFill>
                  <a:srgbClr val="7F9A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grows each cycle
</a:t>
            </a:r>
            <a:r>
              <a:rPr lang="en-US" sz="1100" dirty="0">
                <a:solidFill>
                  <a:srgbClr val="CF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history.append(("human", f"A109 is {temp} C"))
</a:t>
            </a:r>
            <a:r>
              <a:rPr lang="en-US" sz="110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reply = llm.invoke([("system", SYSTEM)] + history[-6:])
</a:t>
            </a:r>
            <a:r>
              <a:rPr lang="en-US" sz="1100" dirty="0">
                <a:solidFill>
                  <a:srgbClr val="CF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history.append(("ai", reply.content))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1612880" y="63550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28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5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21792" y="676656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22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Router — send different situations down different paths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664208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the state first, then choose which agent handles it. A flowchart branch, not one giant prompt.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188720" y="2286000"/>
            <a:ext cx="9784080" cy="3703320"/>
          </a:xfrm>
          <a:prstGeom prst="roundRect">
            <a:avLst>
              <a:gd name="adj" fmla="val 1481"/>
            </a:avLst>
          </a:prstGeom>
          <a:solidFill>
            <a:srgbClr val="0E1F33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6" name="Text 4"/>
          <p:cNvSpPr txBox="1"/>
          <p:nvPr/>
        </p:nvSpPr>
        <p:spPr>
          <a:xfrm>
            <a:off x="1335024" y="2377440"/>
            <a:ext cx="9491472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8FD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route(state):
</a:t>
            </a:r>
            <a:r>
              <a:rPr lang="en-US" sz="1100" dirty="0">
                <a:solidFill>
                  <a:srgbClr val="CF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state["smoke"] &gt; 1.0:
</a:t>
            </a:r>
            <a:r>
              <a:rPr lang="en-US" sz="110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"emergency"        </a:t>
            </a:r>
            <a:r>
              <a:rPr lang="en-US" sz="1100" dirty="0">
                <a:solidFill>
                  <a:srgbClr val="7F9A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Scenario B
</a:t>
            </a:r>
            <a:r>
              <a:rPr lang="en-US" sz="110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"comfort"              </a:t>
            </a:r>
            <a:r>
              <a:rPr lang="en-US" sz="1100" dirty="0">
                <a:solidFill>
                  <a:srgbClr val="7F9A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Scenario A
</a:t>
            </a:r>
            <a:r>
              <a:rPr lang="en-US" sz="1100" dirty="0">
                <a:solidFill>
                  <a:srgbClr val="CF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100" dirty="0">
                <a:solidFill>
                  <a:srgbClr val="8FD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graph.add_conditional_edges("classify", route,
</a:t>
            </a:r>
            <a:r>
              <a:rPr lang="en-US" sz="1100" dirty="0">
                <a:solidFill>
                  <a:srgbClr val="CF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{"emergency": fire_agent, "comfort": hvac_agent})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1612880" y="63550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28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6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21792" y="676656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22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Multi-agent graph — several agents, one flowchart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664208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lets you wire many steps or agents together, passing shared state between them.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188720" y="2286000"/>
            <a:ext cx="9784080" cy="3703320"/>
          </a:xfrm>
          <a:prstGeom prst="roundRect">
            <a:avLst>
              <a:gd name="adj" fmla="val 1481"/>
            </a:avLst>
          </a:prstGeom>
          <a:solidFill>
            <a:srgbClr val="0E1F33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6" name="Text 4"/>
          <p:cNvSpPr txBox="1"/>
          <p:nvPr/>
        </p:nvSpPr>
        <p:spPr>
          <a:xfrm>
            <a:off x="1335024" y="2377440"/>
            <a:ext cx="9491472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CF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langgraph.graph import StateGraph
</a:t>
            </a:r>
            <a:r>
              <a:rPr lang="en-US" sz="1100" dirty="0">
                <a:solidFill>
                  <a:srgbClr val="8FD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 = StateGraph(State)
</a:t>
            </a:r>
            <a:r>
              <a:rPr lang="en-US" sz="1100" dirty="0">
                <a:solidFill>
                  <a:srgbClr val="CF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g.add_node("A109", agent_a109)
g.add_node("A110", agent_a110)
g.add_node("coordinator", coordinator)
</a:t>
            </a:r>
            <a:r>
              <a:rPr lang="en-US" sz="110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g.add_edge("A109", "coordinator")
g.add_edge("A110", "coordinator")
</a:t>
            </a:r>
            <a:r>
              <a:rPr lang="en-US" sz="1100" dirty="0">
                <a:solidFill>
                  <a:srgbClr val="CF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 = g.compile()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1612880" y="63550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28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LOOP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21792" y="676656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22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Think → Act → Observe (ReAct)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097280" y="1920240"/>
            <a:ext cx="2743200" cy="1280160"/>
          </a:xfrm>
          <a:prstGeom prst="roundRect">
            <a:avLst>
              <a:gd name="adj" fmla="val 5714"/>
            </a:avLst>
          </a:prstGeom>
          <a:solidFill>
            <a:srgbClr val="F1F6F9"/>
          </a:solidFill>
          <a:ln w="12700">
            <a:solidFill>
              <a:srgbClr val="D6E1E9"/>
            </a:solidFill>
            <a:prstDash val="solid"/>
          </a:ln>
          <a:effectLst>
            <a:outerShdw blurRad="76200" dist="25400" dir="5400000" algn="bl" rotWithShape="0">
              <a:srgbClr val="9AAAB8">
                <a:alpha val="30000"/>
              </a:srgbClr>
            </a:outerShdw>
          </a:effectLst>
        </p:spPr>
        <p:txBody>
          <a:bodyPr/>
          <a:lstStyle/>
          <a:p>
            <a:endParaRPr lang="sv-SE"/>
          </a:p>
        </p:txBody>
      </p:sp>
      <p:sp>
        <p:nvSpPr>
          <p:cNvPr id="5" name="Text 3"/>
          <p:cNvSpPr txBox="1"/>
          <p:nvPr/>
        </p:nvSpPr>
        <p:spPr>
          <a:xfrm>
            <a:off x="1097280" y="192024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
</a:t>
            </a: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I do?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388620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A623"/>
                </a:solidFill>
              </a:rPr>
              <a:t>→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0" y="1920240"/>
            <a:ext cx="2743200" cy="1280160"/>
          </a:xfrm>
          <a:prstGeom prst="roundRect">
            <a:avLst>
              <a:gd name="adj" fmla="val 5714"/>
            </a:avLst>
          </a:prstGeom>
          <a:solidFill>
            <a:srgbClr val="F1F6F9"/>
          </a:solidFill>
          <a:ln w="12700">
            <a:solidFill>
              <a:srgbClr val="D6E1E9"/>
            </a:solidFill>
            <a:prstDash val="solid"/>
          </a:ln>
          <a:effectLst>
            <a:outerShdw blurRad="76200" dist="25400" dir="5400000" algn="bl" rotWithShape="0">
              <a:srgbClr val="9AAAB8">
                <a:alpha val="30000"/>
              </a:srgbClr>
            </a:outerShdw>
          </a:effectLst>
        </p:spPr>
        <p:txBody>
          <a:bodyPr/>
          <a:lstStyle/>
          <a:p>
            <a:endParaRPr lang="sv-SE"/>
          </a:p>
        </p:txBody>
      </p:sp>
      <p:sp>
        <p:nvSpPr>
          <p:cNvPr id="8" name="Text 6"/>
          <p:cNvSpPr txBox="1"/>
          <p:nvPr/>
        </p:nvSpPr>
        <p:spPr>
          <a:xfrm>
            <a:off x="4572000" y="192024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
</a:t>
            </a: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a tool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36092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A623"/>
                </a:solidFill>
              </a:rPr>
              <a:t>→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8046720" y="1920240"/>
            <a:ext cx="2743200" cy="1280160"/>
          </a:xfrm>
          <a:prstGeom prst="roundRect">
            <a:avLst>
              <a:gd name="adj" fmla="val 5714"/>
            </a:avLst>
          </a:prstGeom>
          <a:solidFill>
            <a:srgbClr val="12294A"/>
          </a:solidFill>
          <a:ln/>
          <a:effectLst>
            <a:outerShdw blurRad="76200" dist="25400" dir="5400000" algn="bl" rotWithShape="0">
              <a:srgbClr val="9AAAB8">
                <a:alpha val="30000"/>
              </a:srgbClr>
            </a:outerShdw>
          </a:effectLst>
        </p:spPr>
        <p:txBody>
          <a:bodyPr/>
          <a:lstStyle/>
          <a:p>
            <a:endParaRPr lang="sv-SE"/>
          </a:p>
        </p:txBody>
      </p:sp>
      <p:sp>
        <p:nvSpPr>
          <p:cNvPr id="11" name="Text 9"/>
          <p:cNvSpPr txBox="1"/>
          <p:nvPr/>
        </p:nvSpPr>
        <p:spPr>
          <a:xfrm>
            <a:off x="8046720" y="192024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
</a:t>
            </a:r>
            <a:r>
              <a:rPr lang="en-US" sz="1250" dirty="0">
                <a:solidFill>
                  <a:srgbClr val="8F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result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338328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  loop until the model answers with no tool call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097280" y="3794760"/>
            <a:ext cx="9966960" cy="960120"/>
          </a:xfrm>
          <a:prstGeom prst="roundRect">
            <a:avLst>
              <a:gd name="adj" fmla="val 5333"/>
            </a:avLst>
          </a:prstGeom>
          <a:solidFill>
            <a:srgbClr val="F1F6F9"/>
          </a:solidFill>
          <a:ln w="12700">
            <a:solidFill>
              <a:srgbClr val="D6E1E9"/>
            </a:solidFill>
            <a:prstDash val="solid"/>
          </a:ln>
          <a:effectLst>
            <a:outerShdw blurRad="76200" dist="25400" dir="5400000" algn="bl" rotWithShape="0">
              <a:srgbClr val="9AAAB8">
                <a:alpha val="30000"/>
              </a:srgbClr>
            </a:outerShdw>
          </a:effectLst>
        </p:spPr>
        <p:txBody>
          <a:bodyPr/>
          <a:lstStyle/>
          <a:p>
            <a:endParaRPr lang="sv-SE"/>
          </a:p>
        </p:txBody>
      </p:sp>
      <p:sp>
        <p:nvSpPr>
          <p:cNvPr id="14" name="Text 12"/>
          <p:cNvSpPr txBox="1"/>
          <p:nvPr/>
        </p:nvSpPr>
        <p:spPr>
          <a:xfrm>
            <a:off x="1325880" y="3794760"/>
            <a:ext cx="410876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9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create_react_agent(llm, tools)
</a:t>
            </a: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this loop for you (LangGraph): call the model → if it asked for a tool, run it and loop back → else finish.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1612880" y="63550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17" name="Rounded Rectangle 16"/>
          <p:cNvSpPr/>
          <p:nvPr/>
        </p:nvSpPr>
        <p:spPr>
          <a:xfrm>
            <a:off x="1097280" y="4892040"/>
            <a:ext cx="9966960" cy="1371600"/>
          </a:xfrm>
          <a:prstGeom prst="roundRect">
            <a:avLst/>
          </a:prstGeom>
          <a:solidFill>
            <a:srgbClr val="0E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298448" y="4983480"/>
            <a:ext cx="9601200" cy="118872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050">
                <a:solidFill>
                  <a:srgbClr val="8FD6DE"/>
                </a:solidFill>
                <a:latin typeface="Courier New"/>
              </a:rPr>
              <a:t>agent = create_react_agent(</a:t>
            </a:r>
          </a:p>
          <a:p>
            <a:r>
              <a:rPr sz="1050">
                <a:solidFill>
                  <a:srgbClr val="CFE6EF"/>
                </a:solidFill>
                <a:latin typeface="Courier New"/>
              </a:rPr>
              <a:t>    llm, tools,</a:t>
            </a:r>
          </a:p>
          <a:p>
            <a:r>
              <a:rPr sz="1050">
                <a:solidFill>
                  <a:srgbClr val="F5A623"/>
                </a:solidFill>
                <a:latin typeface="Courier New"/>
              </a:rPr>
              <a:t>    prompt=SYSTEM)   </a:t>
            </a:r>
            <a:r>
              <a:rPr sz="1050">
                <a:solidFill>
                  <a:srgbClr val="7F9AAB"/>
                </a:solidFill>
                <a:latin typeface="Courier New"/>
              </a:rPr>
              <a:t># applies every cycle</a:t>
            </a:r>
          </a:p>
          <a:p>
            <a:endParaRPr sz="1050">
              <a:solidFill>
                <a:srgbClr val="7F9AAB"/>
              </a:solidFill>
              <a:latin typeface="Courier New"/>
            </a:endParaRPr>
          </a:p>
          <a:p>
            <a:r>
              <a:rPr sz="1050">
                <a:solidFill>
                  <a:srgbClr val="8FD6DE"/>
                </a:solidFill>
                <a:latin typeface="Courier New"/>
              </a:rPr>
              <a:t>agent.invoke({"messages":</a:t>
            </a:r>
          </a:p>
          <a:p>
            <a:r>
              <a:rPr sz="1050">
                <a:solidFill>
                  <a:srgbClr val="CFE6EF"/>
                </a:solidFill>
                <a:latin typeface="Courier New"/>
              </a:rPr>
              <a:t>    [("user", "A109 is 19.2 C")]})   </a:t>
            </a:r>
            <a:r>
              <a:rPr sz="1050">
                <a:solidFill>
                  <a:srgbClr val="7F9AAB"/>
                </a:solidFill>
                <a:latin typeface="Courier New"/>
              </a:rPr>
              <a:t># just the situation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28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21792" y="676656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22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AI asks — your code decides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3246120" cy="2194560"/>
          </a:xfrm>
          <a:prstGeom prst="roundRect">
            <a:avLst>
              <a:gd name="adj" fmla="val 3333"/>
            </a:avLst>
          </a:prstGeom>
          <a:solidFill>
            <a:srgbClr val="F1F6F9"/>
          </a:solidFill>
          <a:ln w="12700">
            <a:solidFill>
              <a:srgbClr val="D6E1E9"/>
            </a:solidFill>
            <a:prstDash val="solid"/>
          </a:ln>
          <a:effectLst>
            <a:outerShdw blurRad="76200" dist="25400" dir="5400000" algn="bl" rotWithShape="0">
              <a:srgbClr val="9AAAB8">
                <a:alpha val="30000"/>
              </a:srgbClr>
            </a:outerShdw>
          </a:effectLst>
        </p:spPr>
        <p:txBody>
          <a:bodyPr/>
          <a:lstStyle/>
          <a:p>
            <a:endParaRPr lang="sv-SE"/>
          </a:p>
        </p:txBody>
      </p:sp>
      <p:sp>
        <p:nvSpPr>
          <p:cNvPr id="5" name="Shape 3"/>
          <p:cNvSpPr/>
          <p:nvPr/>
        </p:nvSpPr>
        <p:spPr>
          <a:xfrm>
            <a:off x="914400" y="2084832"/>
            <a:ext cx="457200" cy="457200"/>
          </a:xfrm>
          <a:prstGeom prst="ellipse">
            <a:avLst/>
          </a:prstGeom>
          <a:solidFill>
            <a:srgbClr val="128AA6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6" name="Text 4"/>
          <p:cNvSpPr txBox="1"/>
          <p:nvPr/>
        </p:nvSpPr>
        <p:spPr>
          <a:xfrm>
            <a:off x="914400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2130552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Whitelist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41832" y="2743200"/>
            <a:ext cx="2788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listed actuators and legal states. It cannot invent a device.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26280" y="1874520"/>
            <a:ext cx="3246120" cy="2194560"/>
          </a:xfrm>
          <a:prstGeom prst="roundRect">
            <a:avLst>
              <a:gd name="adj" fmla="val 3333"/>
            </a:avLst>
          </a:prstGeom>
          <a:solidFill>
            <a:srgbClr val="F1F6F9"/>
          </a:solidFill>
          <a:ln w="12700">
            <a:solidFill>
              <a:srgbClr val="D6E1E9"/>
            </a:solidFill>
            <a:prstDash val="solid"/>
          </a:ln>
          <a:effectLst>
            <a:outerShdw blurRad="76200" dist="25400" dir="5400000" algn="bl" rotWithShape="0">
              <a:srgbClr val="9AAAB8">
                <a:alpha val="30000"/>
              </a:srgbClr>
            </a:outerShdw>
          </a:effectLst>
        </p:spPr>
        <p:txBody>
          <a:bodyPr/>
          <a:lstStyle/>
          <a:p>
            <a:endParaRPr lang="sv-SE"/>
          </a:p>
        </p:txBody>
      </p:sp>
      <p:sp>
        <p:nvSpPr>
          <p:cNvPr id="10" name="Shape 8"/>
          <p:cNvSpPr/>
          <p:nvPr/>
        </p:nvSpPr>
        <p:spPr>
          <a:xfrm>
            <a:off x="4754880" y="2084832"/>
            <a:ext cx="457200" cy="457200"/>
          </a:xfrm>
          <a:prstGeom prst="ellipse">
            <a:avLst/>
          </a:prstGeom>
          <a:solidFill>
            <a:srgbClr val="128AA6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1" name="Text 9"/>
          <p:cNvSpPr txBox="1"/>
          <p:nvPr/>
        </p:nvSpPr>
        <p:spPr>
          <a:xfrm>
            <a:off x="4754880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394960" y="2130552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required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782312" y="2743200"/>
            <a:ext cx="2788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carries a ≥5-char reason. No silent changes.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366760" y="1874520"/>
            <a:ext cx="3246120" cy="2194560"/>
          </a:xfrm>
          <a:prstGeom prst="roundRect">
            <a:avLst>
              <a:gd name="adj" fmla="val 3333"/>
            </a:avLst>
          </a:prstGeom>
          <a:solidFill>
            <a:srgbClr val="F1F6F9"/>
          </a:solidFill>
          <a:ln w="12700">
            <a:solidFill>
              <a:srgbClr val="D6E1E9"/>
            </a:solidFill>
            <a:prstDash val="solid"/>
          </a:ln>
          <a:effectLst>
            <a:outerShdw blurRad="76200" dist="25400" dir="5400000" algn="bl" rotWithShape="0">
              <a:srgbClr val="9AAAB8">
                <a:alpha val="30000"/>
              </a:srgbClr>
            </a:outerShdw>
          </a:effectLst>
        </p:spPr>
        <p:txBody>
          <a:bodyPr/>
          <a:lstStyle/>
          <a:p>
            <a:endParaRPr lang="sv-SE"/>
          </a:p>
        </p:txBody>
      </p:sp>
      <p:sp>
        <p:nvSpPr>
          <p:cNvPr id="15" name="Shape 13"/>
          <p:cNvSpPr/>
          <p:nvPr/>
        </p:nvSpPr>
        <p:spPr>
          <a:xfrm>
            <a:off x="8595360" y="2084832"/>
            <a:ext cx="457200" cy="457200"/>
          </a:xfrm>
          <a:prstGeom prst="ellipse">
            <a:avLst/>
          </a:prstGeom>
          <a:solidFill>
            <a:srgbClr val="128AA6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6" name="Text 14"/>
          <p:cNvSpPr txBox="1"/>
          <p:nvPr/>
        </p:nvSpPr>
        <p:spPr>
          <a:xfrm>
            <a:off x="8595360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9235440" y="2130552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622792" y="2743200"/>
            <a:ext cx="2788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thought and action recorded — replay the whole episode.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85800" y="4343400"/>
            <a:ext cx="10927080" cy="1143000"/>
          </a:xfrm>
          <a:prstGeom prst="roundRect">
            <a:avLst>
              <a:gd name="adj" fmla="val 4800"/>
            </a:avLst>
          </a:prstGeom>
          <a:solidFill>
            <a:srgbClr val="0E1F33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0" name="Text 18"/>
          <p:cNvSpPr txBox="1"/>
          <p:nvPr/>
        </p:nvSpPr>
        <p:spPr>
          <a:xfrm>
            <a:off x="832104" y="4434840"/>
            <a:ext cx="106344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state not in ALLOWED:  return "REFUSED"      </a:t>
            </a:r>
            <a:r>
              <a:rPr lang="en-US" sz="1100" dirty="0">
                <a:solidFill>
                  <a:srgbClr val="7F9A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model asked — your code refused
</a:t>
            </a:r>
            <a:r>
              <a:rPr lang="en-US" sz="110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len(reason) &lt; 5:       return "REFUSED"
</a:t>
            </a:r>
            <a:r>
              <a:rPr lang="en-US" sz="1100" dirty="0">
                <a:solidFill>
                  <a:srgbClr val="8FD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audit_log(state, reason);  requests.put(...)   </a:t>
            </a:r>
            <a:r>
              <a:rPr lang="en-US" sz="1100" dirty="0">
                <a:solidFill>
                  <a:srgbClr val="7F9A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only now does it reach BuildSim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85800" y="5669280"/>
            <a:ext cx="10927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i="1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 request something stupid. It can never perform something stupid.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1612880" y="63550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28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GOES WRONG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21792" y="676656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22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only sees text — so it fails in text-shaped ways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10515600" cy="822960"/>
          </a:xfrm>
          <a:prstGeom prst="roundRect">
            <a:avLst>
              <a:gd name="adj" fmla="val 8889"/>
            </a:avLst>
          </a:prstGeom>
          <a:solidFill>
            <a:srgbClr val="F1F6F9"/>
          </a:solidFill>
          <a:ln w="12700">
            <a:solidFill>
              <a:srgbClr val="D6E1E9"/>
            </a:solidFill>
            <a:prstDash val="solid"/>
          </a:ln>
          <a:effectLst>
            <a:outerShdw blurRad="76200" dist="25400" dir="5400000" algn="bl" rotWithShape="0">
              <a:srgbClr val="9AAAB8">
                <a:alpha val="30000"/>
              </a:srgbClr>
            </a:outerShdw>
          </a:effectLst>
        </p:spPr>
        <p:txBody>
          <a:bodyPr/>
          <a:lstStyle/>
          <a:p>
            <a:endParaRPr lang="sv-SE"/>
          </a:p>
        </p:txBody>
      </p:sp>
      <p:sp>
        <p:nvSpPr>
          <p:cNvPr id="5" name="Shape 3"/>
          <p:cNvSpPr/>
          <p:nvPr/>
        </p:nvSpPr>
        <p:spPr>
          <a:xfrm>
            <a:off x="1005840" y="2066544"/>
            <a:ext cx="530352" cy="530352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6" name="Text 4"/>
          <p:cNvSpPr txBox="1"/>
          <p:nvPr/>
        </p:nvSpPr>
        <p:spPr>
          <a:xfrm>
            <a:off x="1005840" y="206654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783080" y="19202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Phantom actuator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92024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for set_sprinkler — no such tool exists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22960" y="2880360"/>
            <a:ext cx="10515600" cy="822960"/>
          </a:xfrm>
          <a:prstGeom prst="roundRect">
            <a:avLst>
              <a:gd name="adj" fmla="val 8889"/>
            </a:avLst>
          </a:prstGeom>
          <a:solidFill>
            <a:srgbClr val="F1F6F9"/>
          </a:solidFill>
          <a:ln w="12700">
            <a:solidFill>
              <a:srgbClr val="D6E1E9"/>
            </a:solidFill>
            <a:prstDash val="solid"/>
          </a:ln>
          <a:effectLst>
            <a:outerShdw blurRad="76200" dist="25400" dir="5400000" algn="bl" rotWithShape="0">
              <a:srgbClr val="9AAAB8">
                <a:alpha val="30000"/>
              </a:srgbClr>
            </a:outerShdw>
          </a:effectLst>
        </p:spPr>
        <p:txBody>
          <a:bodyPr/>
          <a:lstStyle/>
          <a:p>
            <a:endParaRPr lang="sv-SE"/>
          </a:p>
        </p:txBody>
      </p:sp>
      <p:sp>
        <p:nvSpPr>
          <p:cNvPr id="10" name="Shape 8"/>
          <p:cNvSpPr/>
          <p:nvPr/>
        </p:nvSpPr>
        <p:spPr>
          <a:xfrm>
            <a:off x="1005840" y="3026664"/>
            <a:ext cx="530352" cy="530352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1" name="Text 9"/>
          <p:cNvSpPr txBox="1"/>
          <p:nvPr/>
        </p:nvSpPr>
        <p:spPr>
          <a:xfrm>
            <a:off x="1005840" y="302666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783080" y="28803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Illegal command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288036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state="warm" instead of 'on' / 'off'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22960" y="3840480"/>
            <a:ext cx="10515600" cy="822960"/>
          </a:xfrm>
          <a:prstGeom prst="roundRect">
            <a:avLst>
              <a:gd name="adj" fmla="val 8889"/>
            </a:avLst>
          </a:prstGeom>
          <a:solidFill>
            <a:srgbClr val="F1F6F9"/>
          </a:solidFill>
          <a:ln w="12700">
            <a:solidFill>
              <a:srgbClr val="D6E1E9"/>
            </a:solidFill>
            <a:prstDash val="solid"/>
          </a:ln>
          <a:effectLst>
            <a:outerShdw blurRad="76200" dist="25400" dir="5400000" algn="bl" rotWithShape="0">
              <a:srgbClr val="9AAAB8">
                <a:alpha val="30000"/>
              </a:srgbClr>
            </a:outerShdw>
          </a:effectLst>
        </p:spPr>
        <p:txBody>
          <a:bodyPr/>
          <a:lstStyle/>
          <a:p>
            <a:endParaRPr lang="sv-SE"/>
          </a:p>
        </p:txBody>
      </p:sp>
      <p:sp>
        <p:nvSpPr>
          <p:cNvPr id="15" name="Shape 13"/>
          <p:cNvSpPr/>
          <p:nvPr/>
        </p:nvSpPr>
        <p:spPr>
          <a:xfrm>
            <a:off x="1005840" y="3986784"/>
            <a:ext cx="530352" cy="530352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6" name="Text 14"/>
          <p:cNvSpPr txBox="1"/>
          <p:nvPr/>
        </p:nvSpPr>
        <p:spPr>
          <a:xfrm>
            <a:off x="1005840" y="398678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783080" y="38404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Fabricated diagnosis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846320" y="384048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sensor is broken" — with no evidence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22960" y="4800600"/>
            <a:ext cx="10515600" cy="822960"/>
          </a:xfrm>
          <a:prstGeom prst="roundRect">
            <a:avLst>
              <a:gd name="adj" fmla="val 8889"/>
            </a:avLst>
          </a:prstGeom>
          <a:solidFill>
            <a:srgbClr val="F1F6F9"/>
          </a:solidFill>
          <a:ln w="12700">
            <a:solidFill>
              <a:srgbClr val="D6E1E9"/>
            </a:solidFill>
            <a:prstDash val="solid"/>
          </a:ln>
          <a:effectLst>
            <a:outerShdw blurRad="76200" dist="25400" dir="5400000" algn="bl" rotWithShape="0">
              <a:srgbClr val="9AAAB8">
                <a:alpha val="30000"/>
              </a:srgbClr>
            </a:outerShdw>
          </a:effectLst>
        </p:spPr>
        <p:txBody>
          <a:bodyPr/>
          <a:lstStyle/>
          <a:p>
            <a:endParaRPr lang="sv-SE"/>
          </a:p>
        </p:txBody>
      </p:sp>
      <p:sp>
        <p:nvSpPr>
          <p:cNvPr id="20" name="Shape 18"/>
          <p:cNvSpPr/>
          <p:nvPr/>
        </p:nvSpPr>
        <p:spPr>
          <a:xfrm>
            <a:off x="1005840" y="4946904"/>
            <a:ext cx="530352" cy="530352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1" name="Text 19"/>
          <p:cNvSpPr txBox="1"/>
          <p:nvPr/>
        </p:nvSpPr>
        <p:spPr>
          <a:xfrm>
            <a:off x="1005840" y="494690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783080" y="48006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 perception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846320" y="480060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 on an old reading, never noticing the data stopped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822960" y="58978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i="1" dirty="0">
                <a:solidFill>
                  <a:srgbClr val="128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CATCH these. Being right is a different thing — and measuring that gap is the research.</a:t>
            </a:r>
            <a:endParaRPr lang="en-US" sz="1450" dirty="0"/>
          </a:p>
        </p:txBody>
      </p:sp>
      <p:sp>
        <p:nvSpPr>
          <p:cNvPr id="25" name="Text 23"/>
          <p:cNvSpPr txBox="1"/>
          <p:nvPr/>
        </p:nvSpPr>
        <p:spPr>
          <a:xfrm>
            <a:off x="11612880" y="63550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1738</Words>
  <Application>Microsoft Office PowerPoint</Application>
  <PresentationFormat>Custom</PresentationFormat>
  <Paragraphs>165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Dhivyapriya Komathivanan</cp:lastModifiedBy>
  <cp:revision>5</cp:revision>
  <dcterms:created xsi:type="dcterms:W3CDTF">2026-09-18T19:32:34Z</dcterms:created>
  <dcterms:modified xsi:type="dcterms:W3CDTF">2026-09-18T20:02:56Z</dcterms:modified>
</cp:coreProperties>
</file>