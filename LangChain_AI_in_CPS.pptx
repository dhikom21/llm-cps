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937760" cy="4937760"/>
          </a:xfrm>
          <a:prstGeom prst="ellipse">
            <a:avLst/>
          </a:prstGeom>
          <a:solidFill>
            <a:srgbClr val="12294A"/>
          </a:solidFill>
          <a:ln w="15875">
            <a:solidFill>
              <a:srgbClr val="128A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1737360"/>
            <a:ext cx="3291840" cy="3291840"/>
          </a:xfrm>
          <a:prstGeom prst="ellipse">
            <a:avLst/>
          </a:prstGeom>
          <a:solidFill>
            <a:srgbClr val="12294A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2880360"/>
            <a:ext cx="1005840" cy="10058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2011680"/>
            <a:ext cx="457200" cy="457200"/>
          </a:xfrm>
          <a:prstGeom prst="ellipse">
            <a:avLst/>
          </a:prstGeom>
          <a:solidFill>
            <a:srgbClr val="8FD6DE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0" y="4023360"/>
            <a:ext cx="411480" cy="411480"/>
          </a:xfrm>
          <a:prstGeom prst="ellipse">
            <a:avLst/>
          </a:prstGeom>
          <a:solidFill>
            <a:srgbClr val="8FD6DE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0" y="4846320"/>
            <a:ext cx="365760" cy="365760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D7065E · Cyber-Physical Systems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AI in the Loop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 LLM to our building with LangChain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776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walkthrough — from one message to a working agent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Dhivya Priya Komathivanan · Luleå University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the AI is just a server behind a door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
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agent)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17720" y="2011680"/>
            <a:ext cx="292608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
</a:t>
            </a:r>
            <a:pPr algn="ctr" indent="0" marL="0">
              <a:buNone/>
            </a:pPr>
            <a:r>
              <a:rPr lang="en-US" sz="12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+ port
</a:t>
            </a:r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:8000/v1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321040" y="201168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21040" y="2011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
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/ Llama…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319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runs as a server listening on a port.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“Connecting” = you send it text; it sends text back — one message to that door.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like the curl calls you already make to BuildSim.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phoning an expert: you ask a question, they answer, then hang up.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with LangChain — 3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client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 phone at the door — do this once.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messages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 = its job · HumanMessage = your question.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reply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937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.invoke(...) and take .content — the answer.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1874520"/>
            <a:ext cx="4480560" cy="3657600"/>
          </a:xfrm>
          <a:prstGeom prst="roundRect">
            <a:avLst>
              <a:gd name="adj" fmla="val 1500"/>
            </a:avLst>
          </a:prstGeom>
          <a:solidFill>
            <a:srgbClr val="0E1F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14032" y="1984248"/>
            <a:ext cx="415137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langchain_core.messages \
   import SystemMessage, HumanMessage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model="llama3.2:3b",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base_url="http://localhost:11434/v1",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api_key="ollama")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= llm.invoke([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SystemMessage("You control a heater."),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HumanMessage("A109 is 19C. ON or OFF?")])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print(reply.content)   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"ON"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AI buttons it can press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87452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just a normal function with a description.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name + docstring become the “menu” the AI reads to decide how to call 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request a button — but only the ones you handed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5720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clear docstring → the agent uses the tool well. The docstring is the instruction manual.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874520"/>
            <a:ext cx="4572000" cy="3566160"/>
          </a:xfrm>
          <a:prstGeom prst="roundRect">
            <a:avLst>
              <a:gd name="adj" fmla="val 1538"/>
            </a:avLst>
          </a:prstGeom>
          <a:solidFill>
            <a:srgbClr val="0E1F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22592" y="1984248"/>
            <a:ext cx="4242816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set_heater(state: str,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reason: str) -&gt; str: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"""Turn the heater on or off.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state is 'on' or 'off';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reason explains why."""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# your real code
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"ok"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→ Act → Observe (the ReAct loop)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
</a:t>
            </a:r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
</a:t>
            </a:r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 tool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
</a:t>
            </a:r>
            <a:pPr algn="ctr" indent="0" marL="0">
              <a:buNone/>
            </a:pPr>
            <a:r>
              <a:rPr lang="en-US" sz="13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result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 back until the AI gives a final answer (no tool)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297680"/>
            <a:ext cx="9966960" cy="1417320"/>
          </a:xfrm>
          <a:prstGeom prst="roundRect">
            <a:avLst>
              <a:gd name="adj" fmla="val 5806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3258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create_react_agent(llm, tools) 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this whole loop for you (via LangGraph): call the model → if it asked for a tool, run it and loop back → else finish. You write 3 lines instead of 40.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806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detective: think, ask for evidence, look at it, repeat, then conclude.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COURSE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plugs into our building (D7065E)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148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
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/ smoke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72968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2148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
</a:t>
            </a:r>
            <a:pPr algn="ctr" indent="0" marL="0">
              <a:buNone/>
            </a:pPr>
            <a:r>
              <a:rPr lang="en-US" sz="12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decide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053328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148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tools
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set_actuator, alert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33688" y="251460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326880" y="21488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0" y="2148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BuildSim + heater
</a:t>
            </a:r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changes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703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 the new temperature is the next reading — the loop closes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 </a:t>
            </a:r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read_sensors()   </a:t>
            </a:r>
            <a:pPr algn="ctr" indent="0" marL="0">
              <a:buNone/>
            </a:pPr>
            <a:r>
              <a:rPr lang="en-US" sz="1500" b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decide  </a:t>
            </a:r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  </a:t>
            </a:r>
            <a:pPr algn="ctr" indent="0" marL="0">
              <a:buNone/>
            </a:pPr>
            <a:r>
              <a:rPr lang="en-US" sz="1500" b="1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act  </a:t>
            </a:r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set_actuator()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becomes the “brain and hand” of the building — the same 3 steps, on a real (or simulated) room.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asks — the tools decide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97180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listed actuators + legal states. It can’t invent a device or a bad command.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9456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required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97180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must carry a ≥5-char reason — no silent changes.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246120" cy="2377440"/>
          </a:xfrm>
          <a:prstGeom prst="roundRect">
            <a:avLst>
              <a:gd name="adj" fmla="val 3462"/>
            </a:avLst>
          </a:prstGeom>
          <a:solidFill>
            <a:srgbClr val="F1F6F9"/>
          </a:solidFill>
          <a:ln w="12700">
            <a:solidFill>
              <a:srgbClr val="D6E1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194560"/>
            <a:ext cx="566928" cy="566928"/>
          </a:xfrm>
          <a:prstGeom prst="ellipse">
            <a:avLst/>
          </a:prstGeom>
          <a:solidFill>
            <a:srgbClr val="128A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97180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thought &amp; action is recorded, so you can replay what it did and why.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927080" cy="1097280"/>
          </a:xfrm>
          <a:prstGeom prst="roundRect">
            <a:avLst>
              <a:gd name="adj" fmla="val 7500"/>
            </a:avLst>
          </a:prstGeom>
          <a:solidFill>
            <a:srgbClr val="12294A"/>
          </a:solidFill>
          <a:ln/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request a bad action — it can never perform one.  </a:t>
            </a:r>
            <a:pPr indent="0" marL="0">
              <a:buNone/>
            </a:pPr>
            <a:r>
              <a:rPr lang="en-US" sz="16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catch disasters; being correct is what we study.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— and you already made the first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86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6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3042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ChatOpenAI(...) → point at the model’s door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410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4472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SystemMessage + HumanMessage → invoke → .content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553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5902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tools + create_react_agent → the ReAct loop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built the smallest agent:  </a:t>
            </a:r>
            <a:pPr indent="0" marL="0">
              <a:buNone/>
            </a:pPr>
            <a:r>
              <a:rPr lang="en-US" sz="16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temp → ask the LLM → set the heater.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grow it into the full guarded ReAct agent on BuildSim.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2026-09-09T16:59:55Z</dcterms:created>
  <dcterms:modified xsi:type="dcterms:W3CDTF">2026-09-09T16:59:55Z</dcterms:modified>
</cp:coreProperties>
</file>